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2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84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6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68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60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2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44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6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28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0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12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4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96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88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880000" y="0"/>
            <a:ext cx="7200" cy="68580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0000" y="1260000"/>
            <a:ext cx="7200000" cy="1980000"/>
          </a:xfrm>
          <a:prstGeom prst="rect">
            <a:avLst/>
          </a:prstGeom>
          <a:solidFill>
            <a:srgbClr val="0E0C22"/>
          </a:solidFill>
          <a:ln w="6350">
            <a:solidFill>
              <a:srgbClr val="7C6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0000" y="1368000"/>
            <a:ext cx="684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7C6DF5"/>
                </a:solidFill>
                <a:latin typeface="Calibri"/>
              </a:rPr>
              <a:t>MOSAIC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0000" y="3024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EEF8"/>
                </a:solidFill>
                <a:latin typeface="Calibri"/>
              </a:rPr>
              <a:t>The physical world, finally legible.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0000" y="3564000"/>
            <a:ext cx="5040000" cy="254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0000" y="3708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878A0"/>
                </a:solidFill>
                <a:latin typeface="Calibri"/>
              </a:rPr>
              <a:t>Physical World Intelligence  ·  Seed Round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066000"/>
            <a:ext cx="12193200" cy="792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6210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Confidential — Not for distribution  |  mosaic-intel.com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93200" y="6210000"/>
            <a:ext cx="16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878A0"/>
                </a:solidFill>
                <a:latin typeface="Calibri"/>
              </a:rPr>
              <a:t>April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612000"/>
            <a:ext cx="2160000" cy="3175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DF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EEF8"/>
                </a:solidFill>
                <a:latin typeface="Calibri"/>
              </a:rPr>
              <a:t>6.8 billion sensors. Zero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780000" y="1044000"/>
            <a:ext cx="4500000" cy="756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0" y="1080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947"/>
                </a:solidFill>
                <a:latin typeface="Calibri"/>
              </a:rPr>
              <a:t>$35B/year spent on field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0" y="1404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Data arrives weeks late. Covers &lt;5% of locations.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944000"/>
            <a:ext cx="3420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944000"/>
            <a:ext cx="3420000" cy="288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2052000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DF5"/>
                </a:solidFill>
                <a:latin typeface="Calibri"/>
              </a:rPr>
              <a:t>CPG BRANDS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2376000"/>
            <a:ext cx="3132000" cy="127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447999"/>
            <a:ext cx="3132000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Lost 4–8% of revenue
to out-of-stocks they
never knew about.
Distributor photos:
30–40% inaccurate.
Field visits cover
&lt;20% of stores per quarter.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1944000"/>
            <a:ext cx="3420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000" y="1944000"/>
            <a:ext cx="3420000" cy="288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4000" y="2052000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D4"/>
                </a:solidFill>
                <a:latin typeface="Calibri"/>
              </a:rPr>
              <a:t>RETAILERS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4000" y="2376000"/>
            <a:ext cx="3132000" cy="127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4000" y="2447999"/>
            <a:ext cx="3132000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Can't verify compliance
without a 2-week delay
and $50–$300/visit.
Planogram deviations
go undetected for weeks.
No real-time shelf data
from their own estate.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0000" y="1944000"/>
            <a:ext cx="3420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0000" y="1944000"/>
            <a:ext cx="3420000" cy="288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4000" y="2052000"/>
            <a:ext cx="31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096"/>
                </a:solidFill>
                <a:latin typeface="Calibri"/>
              </a:rPr>
              <a:t>CONSUMERS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4000" y="2376000"/>
            <a:ext cx="3132000" cy="127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4000" y="2447999"/>
            <a:ext cx="3132000" cy="28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Can't trust secondhand
info on crowded venues,
park conditions, or
local availability.
No on-demand way to
check physical places
before making a trip.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D4"/>
                </a:solidFill>
                <a:latin typeface="Calibri"/>
              </a:rPr>
              <a:t>THE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2160000" cy="3175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EEEF8"/>
                </a:solidFill>
                <a:latin typeface="Calibri"/>
              </a:rPr>
              <a:t>We Are Blind.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044000"/>
            <a:ext cx="10980000" cy="86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116000"/>
            <a:ext cx="106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EEEF8"/>
                </a:solidFill>
                <a:latin typeface="Calibri"/>
              </a:rPr>
              <a:t>6.8 billion smartphones on the planet.
Every one of them has a camera, GPS, and a processor more powerful than 2010-era servers.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052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947"/>
                </a:solidFill>
                <a:latin typeface="Calibri"/>
              </a:rPr>
              <a:t>Yet the physical world — its shelves, its crowds, its prices, its conditions — remains almost entirely dark.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5220000" cy="1620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2700000"/>
            <a:ext cx="5220000" cy="216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277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DF5"/>
                </a:solidFill>
                <a:latin typeface="Calibri"/>
              </a:rPr>
              <a:t>THE OLD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060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EEEF8"/>
                </a:solidFill>
                <a:latin typeface="Calibri"/>
              </a:rPr>
              <a:t>GPS told us WHERE.
Real-time mapping (Google Maps, Waze)
revolutionised navigation.
But WHERE is just geometry.
It tells you nothing about WHAT is there.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2700000"/>
            <a:ext cx="5220000" cy="1620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2000" y="2700000"/>
            <a:ext cx="5220000" cy="216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277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D4"/>
                </a:solidFill>
                <a:latin typeface="Calibri"/>
              </a:rPr>
              <a:t>THE MOSAIC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3060000"/>
            <a:ext cx="48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EEEF8"/>
                </a:solidFill>
                <a:latin typeface="Calibri"/>
              </a:rPr>
              <a:t>Mosaic tells us WHAT.
Is the shelf stocked? What's the price?
Is the venue crowded? Is the product compliant?
Structured, AI-extracted, verified.
Delivered in hours, not weeks.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4428000"/>
            <a:ext cx="10980000" cy="468000"/>
          </a:xfrm>
          <a:prstGeom prst="rect">
            <a:avLst/>
          </a:prstGeom>
          <a:solidFill>
            <a:srgbClr val="10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464000"/>
            <a:ext cx="10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7C6DF5"/>
                </a:solidFill>
                <a:latin typeface="Calibri"/>
              </a:rPr>
              <a:t>"GPS told us WHERE. Mosaic tells us WHAT."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  <a:latin typeface="Calibri"/>
              </a:rP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2160000" cy="3175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EEEF8"/>
                </a:solidFill>
                <a:latin typeface="Calibri"/>
              </a:rPr>
              <a:t>Ground truth in 4 hours. Not 4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44000"/>
            <a:ext cx="2088000" cy="28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44000"/>
            <a:ext cx="2088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8000" y="1134000"/>
            <a:ext cx="324000" cy="324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000" y="1116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00" y="1530000"/>
            <a:ext cx="1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DF5"/>
                </a:solidFill>
                <a:latin typeface="Calibri"/>
              </a:rPr>
              <a:t>POST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" y="1836000"/>
            <a:ext cx="1908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EEEF8"/>
                </a:solidFill>
                <a:latin typeface="Calibri"/>
              </a:rPr>
              <a:t>Enterprise posts
"Check oat milk compliance
at 50 London Tesco stores"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4000" y="2304000"/>
            <a:ext cx="2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878A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6000" y="1044000"/>
            <a:ext cx="2088000" cy="28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36000" y="1044000"/>
            <a:ext cx="2088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26000" y="1134000"/>
            <a:ext cx="324000" cy="3240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6000" y="1116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6000" y="1530000"/>
            <a:ext cx="1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D4"/>
                </a:solidFill>
                <a:latin typeface="Calibri"/>
              </a:rP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6000" y="1836000"/>
            <a:ext cx="1908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EEEF8"/>
                </a:solidFill>
                <a:latin typeface="Calibri"/>
              </a:rPr>
              <a:t>Mosaic routes to
collectors already near
those stores on commute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2000" y="2304000"/>
            <a:ext cx="2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878A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000" y="1044000"/>
            <a:ext cx="2088000" cy="28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4000" y="1044000"/>
            <a:ext cx="20880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4000" y="1134000"/>
            <a:ext cx="324000" cy="3240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4000" y="1116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0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4000" y="1530000"/>
            <a:ext cx="1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96"/>
                </a:solidFill>
                <a:latin typeface="Calibri"/>
              </a:rPr>
              <a:t>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4000" y="1836000"/>
            <a:ext cx="1908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EEEF8"/>
                </a:solidFill>
                <a:latin typeface="Calibri"/>
              </a:rPr>
              <a:t>Collector spends 45s.
On-device AI validates
image quality &amp; redacts faces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0000" y="2304000"/>
            <a:ext cx="2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878A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2000" y="1044000"/>
            <a:ext cx="2088000" cy="28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72000" y="1044000"/>
            <a:ext cx="2088000" cy="252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2000" y="1134000"/>
            <a:ext cx="324000" cy="3240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2000" y="1116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2000" y="1530000"/>
            <a:ext cx="1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947"/>
                </a:solidFill>
                <a:latin typeface="Calibri"/>
              </a:rPr>
              <a:t>AI EXTRACT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2000" y="1836000"/>
            <a:ext cx="1908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EEEF8"/>
                </a:solidFill>
                <a:latin typeface="Calibri"/>
              </a:rPr>
              <a:t>GPT-4V class model
extracts structured JSON:
compliance scores,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8000" y="2304000"/>
            <a:ext cx="2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878A0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40000" y="1044000"/>
            <a:ext cx="2088000" cy="28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40000" y="1044000"/>
            <a:ext cx="2088000" cy="2520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30000" y="1134000"/>
            <a:ext cx="324000" cy="324000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30000" y="1116000"/>
            <a:ext cx="3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0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0000" y="1530000"/>
            <a:ext cx="1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EEF8"/>
                </a:solidFill>
                <a:latin typeface="Calibri"/>
              </a:rPr>
              <a:t>DELIVERED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0000" y="1836000"/>
            <a:ext cx="1908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EEEF8"/>
                </a:solidFill>
                <a:latin typeface="Calibri"/>
              </a:rPr>
              <a:t>Enterprise dashboard:
4-hour SLA.
"6 OOS · 3 misplaced · 41 ✓"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8000" y="4031999"/>
            <a:ext cx="11257200" cy="900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000" y="4086000"/>
            <a:ext cx="225144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D4"/>
                </a:solidFill>
                <a:latin typeface="Calibri"/>
              </a:rPr>
              <a:t>90s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000" y="4464000"/>
            <a:ext cx="225144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to post a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19440" y="4086000"/>
            <a:ext cx="225144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D4"/>
                </a:solidFill>
                <a:latin typeface="Calibri"/>
              </a:rPr>
              <a:t>4hrs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19440" y="4464000"/>
            <a:ext cx="225144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to deliver 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0880" y="4086000"/>
            <a:ext cx="225144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D4"/>
                </a:solidFill>
                <a:latin typeface="Calibri"/>
              </a:rPr>
              <a:t>45s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70880" y="4464000"/>
            <a:ext cx="225144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per collection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2320" y="4086000"/>
            <a:ext cx="225144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D4"/>
                </a:solidFill>
                <a:latin typeface="Calibri"/>
              </a:rPr>
              <a:t>$12–25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2320" y="4464000"/>
            <a:ext cx="225144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per store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73760" y="4086000"/>
            <a:ext cx="225144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D4"/>
                </a:solidFill>
                <a:latin typeface="Calibri"/>
              </a:rPr>
              <a:t>&gt;90%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3760" y="4464000"/>
            <a:ext cx="225144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AI 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0000" y="5040000"/>
            <a:ext cx="1111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A0"/>
                </a:solidFill>
                <a:latin typeface="Calibri"/>
              </a:rPr>
              <a:t>Field Agent: $30–175/store, 2-week turnaround, no AI, no dashboard  ·  Mosaic: $12–25/store, 4-hour SLA, AI extraction, live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947"/>
                </a:solidFill>
                <a:latin typeface="Calibri"/>
              </a:rP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440000" cy="3175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EEEF8"/>
                </a:solidFill>
                <a:latin typeface="Calibri"/>
              </a:rPr>
              <a:t>Three forces converged in 2024–26 that make Mosaic possible — and defensible.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07999"/>
            <a:ext cx="3528000" cy="360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07999"/>
            <a:ext cx="3528000" cy="288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115999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7C6DF5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511998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6DF5"/>
                </a:solidFill>
                <a:latin typeface="Calibri"/>
              </a:rPr>
              <a:t>ON-DEVICE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1835998"/>
            <a:ext cx="3240000" cy="127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907999"/>
            <a:ext cx="32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MediaPipe + TFLite run face redaction in real-time on any 2020+ smartphone.
GDPR compliance without a cloud roundtrip. No biometric data ever leaves the device.
This wasn't possible before 2024. It's our structural GDPR advantage.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4175999"/>
            <a:ext cx="3240000" cy="28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4175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Available 2024+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4000" y="1007999"/>
            <a:ext cx="3528000" cy="360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4000" y="1007999"/>
            <a:ext cx="3528000" cy="288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8000" y="1115999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D4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8000" y="1511998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D4"/>
                </a:solidFill>
                <a:latin typeface="Calibri"/>
              </a:rPr>
              <a:t>GIG ECONOMY MATURITY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8000" y="1835998"/>
            <a:ext cx="3240000" cy="127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8000" y="1907999"/>
            <a:ext cx="32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50M+ gig workers globally. Already comfortable completing smartphone micro-tasks for micro-pay.
Deliveroo, Uber, DoorDash spent billions training the supply side.
We harvest the agent infrastructure they built — at zero marginal cost.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8000" y="4175999"/>
            <a:ext cx="3240000" cy="2880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8000" y="4175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50M+ workers ready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0" y="1007999"/>
            <a:ext cx="3528000" cy="360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20000" y="1007999"/>
            <a:ext cx="3528000" cy="288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4000" y="1115999"/>
            <a:ext cx="5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096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4000" y="1511998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096"/>
                </a:solidFill>
                <a:latin typeface="Calibri"/>
              </a:rPr>
              <a:t>AI EXTRACTION QUALITY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4000" y="1835998"/>
            <a:ext cx="3240000" cy="127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4000" y="1907999"/>
            <a:ext cx="32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GPT-4V class models extract structured data from photos with &gt;90% accuracy.
A shelf photo becomes JSON data in 3 seconds.
What required a trained human analyst now costs $0.20 of API compute.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4000" y="4175999"/>
            <a:ext cx="3240000" cy="2880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4000" y="4175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&gt;90% accuracy · $0.20/task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000" y="4752000"/>
            <a:ext cx="11257200" cy="468000"/>
          </a:xfrm>
          <a:prstGeom prst="rect">
            <a:avLst/>
          </a:prstGeom>
          <a:solidFill>
            <a:srgbClr val="100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000" y="4788000"/>
            <a:ext cx="10753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C947"/>
                </a:solidFill>
                <a:latin typeface="Calibri"/>
              </a:rPr>
              <a:t>The US gig platforms haven't noticed Europe.  ·  BeMyEye has no consumer tier.  ·  Enterprise AI buyers signed up faster in 2025 than any prior year.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D4"/>
                </a:solidFill>
                <a:latin typeface="Calibri"/>
              </a:rPr>
              <a:t>THE COLLECTOR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980000" cy="3175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1">
                <a:solidFill>
                  <a:srgbClr val="EEEEF8"/>
                </a:solidFill>
                <a:latin typeface="Calibri"/>
              </a:rPr>
              <a:t>"She Was Already There."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44000"/>
            <a:ext cx="4680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44000"/>
            <a:ext cx="4680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52000"/>
            <a:ext cx="1152000" cy="1152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188000"/>
            <a:ext cx="115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7878A0"/>
                </a:solidFill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1224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EEF8"/>
                </a:solidFill>
                <a:latin typeface="Calibri"/>
              </a:rPr>
              <a:t>AMARA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000" y="1512000"/>
            <a:ext cx="30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8A0"/>
                </a:solidFill>
                <a:latin typeface="Calibri"/>
              </a:rPr>
              <a:t>Urban professional · Lagos/London
Age 28 · Daily transit commuter
"I earn £14 before I reach the office."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" y="2412000"/>
            <a:ext cx="4320000" cy="127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520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EEEF8"/>
                </a:solidFill>
                <a:latin typeface="Calibri"/>
              </a:rPr>
              <a:t>Her commute was already happening.
Mosaic turns dead time into income.
No detours. No restructured schedule.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52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D4"/>
                </a:solidFill>
                <a:latin typeface="Calibri"/>
              </a:rPr>
              <a:t>3 tasks · 45 min commute · £14.50 earned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000" y="1044000"/>
            <a:ext cx="6120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72000" y="1044000"/>
            <a:ext cx="6120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0000" y="1116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DF5"/>
                </a:solidFill>
                <a:latin typeface="Calibri"/>
              </a:rPr>
              <a:t>COLLECTOR ECONOMICS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580000" y="1475999"/>
          <a:ext cx="594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000"/>
                <a:gridCol w="1485000"/>
                <a:gridCol w="1485000"/>
                <a:gridCol w="1485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Tasks/Month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Earnings/Month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Eff. Rate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Tier 1 · Power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~$504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$14–30/hr*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Tier 2 · Regular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~$210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$10–18/hr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Tier 3 · Occasional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~$28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$8–12/hr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580000" y="2988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A0"/>
                </a:solidFill>
                <a:latin typeface="Calibri"/>
              </a:rPr>
              <a:t>* Marginal rate — commute was happening anyway. Zero opportunity cost.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72000" y="3348000"/>
            <a:ext cx="2880000" cy="1007999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0" y="3420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A0"/>
                </a:solidFill>
                <a:latin typeface="Calibri"/>
              </a:rPr>
              <a:t>LTV : CAC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0000" y="3671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E096"/>
                </a:solidFill>
                <a:latin typeface="Calibri"/>
              </a:rPr>
              <a:t>54 :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0000" y="3348000"/>
            <a:ext cx="2951999" cy="1007999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8000" y="3420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A0"/>
                </a:solidFill>
                <a:latin typeface="Calibri"/>
              </a:rPr>
              <a:t>Blended CAC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8000" y="3671999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947"/>
                </a:solidFill>
                <a:latin typeface="Calibri"/>
              </a:rPr>
              <a:t>$22–30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824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Acquisition: Campus ambassadors 40% · Referral 30% · Paid social 20% · Organic 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DF5"/>
                </a:solidFill>
                <a:latin typeface="Calibri"/>
              </a:rPr>
              <a:t>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440000" cy="3175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EEF8"/>
                </a:solidFill>
                <a:latin typeface="Calibri"/>
              </a:rPr>
              <a:t>Two apps. One platform. Ground truth on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44000"/>
            <a:ext cx="5400000" cy="37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44000"/>
            <a:ext cx="5400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116000"/>
            <a:ext cx="51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D4"/>
                </a:solidFill>
                <a:latin typeface="Calibri"/>
              </a:rPr>
              <a:t>COLLECTOR APP — Commute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000" y="1475999"/>
            <a:ext cx="251999" cy="251999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45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000" y="1475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Turn on Commute Mode before leaving 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2033999"/>
            <a:ext cx="251999" cy="251999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016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000" y="2033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Route analysis pre-loads 3 tasks along your commute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" y="2591999"/>
            <a:ext cx="251999" cy="251999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2574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000" y="2591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Arrive at location — complete task in 45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" y="3149999"/>
            <a:ext cx="251999" cy="251999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000" y="3132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000" y="3149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On-device AI validates quality before upload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" y="3707999"/>
            <a:ext cx="251999" cy="251999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" y="3690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" y="3707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Earn £14.50 before you reach the office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" y="432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Route-matching · Pre-acceptance · Face redaction on-device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1044000"/>
            <a:ext cx="5400000" cy="37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0000" y="1044000"/>
            <a:ext cx="5400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3999" y="1116000"/>
            <a:ext cx="511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6DF5"/>
                </a:solidFill>
                <a:latin typeface="Calibri"/>
              </a:rPr>
              <a:t>ENTERPRISE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3999" y="1475999"/>
            <a:ext cx="251999" cy="251999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999" y="1458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EEEF8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8000" y="1475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Post task: location + brief + SLA (90 seconds)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3999" y="2033999"/>
            <a:ext cx="251999" cy="251999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3999" y="2016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EEEF8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8000" y="2033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Monitor fulfillment in real-time on map 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3999" y="2591999"/>
            <a:ext cx="251999" cy="251999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999" y="2574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EEEF8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8000" y="2591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AI extraction delivers structured JSON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3999" y="3149999"/>
            <a:ext cx="251999" cy="251999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3999" y="3132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EEEF8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8000" y="3149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Compliance scores, OOS flags, price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3999" y="3707999"/>
            <a:ext cx="251999" cy="251999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3999" y="3690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EEEF8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8000" y="3707999"/>
            <a:ext cx="48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Export to your data pipeline via API or 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3999" y="432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API integration · Webhook alerts · Custom reporting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8000" y="4968000"/>
            <a:ext cx="11257200" cy="648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000" y="5004000"/>
            <a:ext cx="2814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D4"/>
                </a:solidFill>
                <a:latin typeface="Calibri"/>
              </a:rPr>
              <a:t>90s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000" y="5328000"/>
            <a:ext cx="28143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to 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82300" y="5004000"/>
            <a:ext cx="2814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D4"/>
                </a:solidFill>
                <a:latin typeface="Calibri"/>
              </a:rPr>
              <a:t>4hrs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82300" y="5328000"/>
            <a:ext cx="28143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to deliver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600" y="5004000"/>
            <a:ext cx="2814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D4"/>
                </a:solidFill>
                <a:latin typeface="Calibri"/>
              </a:rPr>
              <a:t>45s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600" y="5328000"/>
            <a:ext cx="28143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per task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10900" y="5004000"/>
            <a:ext cx="2814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D4"/>
                </a:solidFill>
                <a:latin typeface="Calibri"/>
              </a:rPr>
              <a:t>£14.50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0900" y="5328000"/>
            <a:ext cx="28143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78A0"/>
                </a:solidFill>
                <a:latin typeface="Calibri"/>
              </a:rPr>
              <a:t>per commute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947"/>
                </a:solidFill>
                <a:latin typeface="Calibri"/>
              </a:rPr>
              <a:t>TOP 3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2160000" cy="3175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EEF8"/>
                </a:solidFill>
                <a:latin typeface="Calibri"/>
              </a:rPr>
              <a:t>One buyer. Three products. $100K–$400K combined ACV.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07999"/>
            <a:ext cx="3528000" cy="37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07999"/>
            <a:ext cx="3528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79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DF5"/>
                </a:solidFill>
                <a:latin typeface="Calibri"/>
              </a:rPr>
              <a:t>SHELF COMPLIANCE AUDITS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421998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A0"/>
                </a:solidFill>
                <a:latin typeface="Calibri"/>
              </a:rPr>
              <a:t>BUYER: CPG Brand Manager / Field Sales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1691999"/>
            <a:ext cx="3240000" cy="127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745998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6DF5"/>
                </a:solidFill>
                <a:latin typeface="Calibri"/>
              </a:rPr>
              <a:t>PAIN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1961999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Covers &lt;20% of stores quarterly.
Distributor photos 30–40% inaccurate.
Missed end-cap = $400K–$1.2M lost lift.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" y="2915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6DF5"/>
                </a:solidFill>
                <a:latin typeface="Calibri"/>
              </a:rPr>
              <a:t>MOSAIC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3131999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50 stores posted → 4hr report → compliance score per store + AI-flagged deviations.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" y="4355999"/>
            <a:ext cx="3240000" cy="324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4355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$60K ACV · 60% pilot→contract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4000" y="1007999"/>
            <a:ext cx="3528000" cy="37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4000" y="1007999"/>
            <a:ext cx="3528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8000" y="1079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D4"/>
                </a:solidFill>
                <a:latin typeface="Calibri"/>
              </a:rPr>
              <a:t>OUT-OF-STOCK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000" y="1421998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A0"/>
                </a:solidFill>
                <a:latin typeface="Calibri"/>
              </a:rPr>
              <a:t>BUYER: Category Manager / Director of Sales 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8000" y="1691999"/>
            <a:ext cx="3240000" cy="127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8000" y="1745998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D4"/>
                </a:solidFill>
                <a:latin typeface="Calibri"/>
              </a:rPr>
              <a:t>PAIN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8000" y="1961999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OOS costs brands 4–8% of retail revenue.
Events detected 5–10 days after they start.
POS data lag: 3–7 days.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000" y="2915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D4"/>
                </a:solidFill>
                <a:latin typeface="Calibri"/>
              </a:rPr>
              <a:t>MOSAIC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8000" y="3131999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Weekly 80-store automated scan. Triggered surge on velocity anomaly. Report by noon Monday.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8000" y="4355999"/>
            <a:ext cx="3240000" cy="3240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8000" y="4355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$70K ACV · 70% pilot→contract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0000" y="1007999"/>
            <a:ext cx="3528000" cy="378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20000" y="1007999"/>
            <a:ext cx="35280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4000" y="1079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96"/>
                </a:solidFill>
                <a:latin typeface="Calibri"/>
              </a:rPr>
              <a:t>COMPETITIVE PRICING SCANS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4000" y="1421998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A0"/>
                </a:solidFill>
                <a:latin typeface="Calibri"/>
              </a:rPr>
              <a:t>BUYER: VP Pricing / Revenue Management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4000" y="1691999"/>
            <a:ext cx="3240000" cy="127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4000" y="1745998"/>
            <a:ext cx="5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6"/>
                </a:solidFill>
                <a:latin typeface="Calibri"/>
              </a:rPr>
              <a:t>PAIN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4000" y="1961999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Manual audits: 300 stores, 2 weeks, Excel.
Competitor promotions run undetected.
MAP violations undocumented.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4000" y="2915999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6"/>
                </a:solidFill>
                <a:latin typeface="Calibri"/>
              </a:rPr>
              <a:t>MOSAIC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4000" y="3131999"/>
            <a:ext cx="32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Weekly 150-store deploy. AI OCRs shelf tags. Price gap alerts. MAP violation evidence.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4000" y="4355999"/>
            <a:ext cx="3240000" cy="3240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4000" y="4355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10"/>
                </a:solidFill>
                <a:latin typeface="Calibri"/>
              </a:rPr>
              <a:t>$250–300K ACV · 65% pilot→contract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" y="4896000"/>
            <a:ext cx="1111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Beachhead: Shelf compliance. Upsell at Month 3: OOS monitoring. Expand at Month 6: Pricing intelligence.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DF5"/>
                </a:solidFill>
                <a:latin typeface="Calibri"/>
              </a:rPr>
              <a:t>MARKET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800000" cy="3175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EEEF8"/>
                </a:solidFill>
                <a:latin typeface="Calibri"/>
              </a:rPr>
              <a:t>$35B market. 22% CAGR. Consumer/SMB tier never served.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44000"/>
            <a:ext cx="3528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44000"/>
            <a:ext cx="3528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134000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DF5"/>
                </a:solidFill>
                <a:latin typeface="Calibr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368000"/>
            <a:ext cx="32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EEEF8"/>
                </a:solidFill>
                <a:latin typeface="Calibri"/>
              </a:rPr>
              <a:t>$35B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2070000"/>
            <a:ext cx="3240000" cy="127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2124000"/>
            <a:ext cx="324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Physical world intelligence:
Retail intelligence · Mystery shopping
Insurance field services · AI training data
Brand compliance · Site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000" y="1044000"/>
            <a:ext cx="3528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4000" y="1044000"/>
            <a:ext cx="3528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000" y="1134000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D4"/>
                </a:solidFill>
                <a:latin typeface="Calibri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000" y="1368000"/>
            <a:ext cx="32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EEEF8"/>
                </a:solidFill>
                <a:latin typeface="Calibri"/>
              </a:rPr>
              <a:t>$8.5B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000" y="2070000"/>
            <a:ext cx="3240000" cy="127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8000" y="2124000"/>
            <a:ext cx="324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Crowdsourced, on-demand, AI-native
visual intelligence — the segment
addressable by a smartphone-first platform
with consumer + SMB + enterprise tiers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0" y="1044000"/>
            <a:ext cx="3528000" cy="34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000" y="1044000"/>
            <a:ext cx="35280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1134000"/>
            <a:ext cx="32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  <a:latin typeface="Calibri"/>
              </a:rP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1368000"/>
            <a:ext cx="32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EEEF8"/>
                </a:solidFill>
                <a:latin typeface="Calibri"/>
              </a:rPr>
              <a:t>$25M ARR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4000" y="2070000"/>
            <a:ext cx="3240000" cy="127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4000" y="2124000"/>
            <a:ext cx="3240000" cy="22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Credible 3-year target:
120 enterprise × $66K ACV
+ 2,000 SMB × $3K ACV
+ 70K consumers + training data
(0.36% SAM — achievable)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000" y="4572000"/>
            <a:ext cx="3528000" cy="720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" y="4644000"/>
            <a:ext cx="1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A0"/>
                </a:solidFill>
                <a:latin typeface="Calibri"/>
              </a:rPr>
              <a:t>CAGR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" y="486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947"/>
                </a:solidFill>
                <a:latin typeface="Calibri"/>
              </a:rPr>
              <a:t>22%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2000" y="4572000"/>
            <a:ext cx="7200000" cy="720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6000" y="4608000"/>
            <a:ext cx="691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C947"/>
                </a:solidFill>
                <a:latin typeface="Calibri"/>
              </a:rPr>
              <a:t>BeMyEye: $35M revenue · enterprise-only · 15 years building  ·  Field Agent: enterprise-only  ·  Trax: hardware + enterprise only
THE CONSUMER/SMB TIER HAS NEVER BEEN SERVED. That is $3–5B of unaddressed market.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D4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2520000" cy="3175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EEF8"/>
                </a:solidFill>
                <a:latin typeface="Calibri"/>
              </a:rPr>
              <a:t>We occupy white space no incumbent has entered.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07999"/>
            <a:ext cx="2520000" cy="19800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88000" y="1007999"/>
            <a:ext cx="2520000" cy="1980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2987999"/>
            <a:ext cx="2520000" cy="198000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88000" y="2987999"/>
            <a:ext cx="2520000" cy="1980000"/>
          </a:xfrm>
          <a:prstGeom prst="rect">
            <a:avLst/>
          </a:prstGeom>
          <a:solidFill>
            <a:srgbClr val="08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80800" y="1007999"/>
            <a:ext cx="14400" cy="3960000"/>
          </a:xfrm>
          <a:prstGeom prst="rect">
            <a:avLst/>
          </a:prstGeom>
          <a:solidFill>
            <a:srgbClr val="78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000" y="2980799"/>
            <a:ext cx="5040000" cy="14400"/>
          </a:xfrm>
          <a:prstGeom prst="rect">
            <a:avLst/>
          </a:prstGeom>
          <a:solidFill>
            <a:srgbClr val="78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043999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878A0"/>
                </a:solidFill>
                <a:latin typeface="Calibri"/>
              </a:rPr>
              <a:t>HIGH AI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679999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878A0"/>
                </a:solidFill>
                <a:latin typeface="Calibri"/>
              </a:rPr>
              <a:t>LOW AI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627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878A0"/>
                </a:solidFill>
                <a:latin typeface="Calibri"/>
              </a:rPr>
              <a:t>ENTERPRISE
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6000" y="2627999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878A0"/>
                </a:solidFill>
                <a:latin typeface="Calibri"/>
              </a:rPr>
              <a:t>CONSUMER
+ SMB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3355199"/>
            <a:ext cx="216000" cy="216000"/>
          </a:xfrm>
          <a:prstGeom prst="rect">
            <a:avLst/>
          </a:prstGeom>
          <a:solidFill>
            <a:srgbClr val="78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3517199"/>
            <a:ext cx="10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A0"/>
                </a:solidFill>
                <a:latin typeface="Calibri"/>
              </a:rPr>
              <a:t>Field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0000" y="3751199"/>
            <a:ext cx="216000" cy="216000"/>
          </a:xfrm>
          <a:prstGeom prst="rect">
            <a:avLst/>
          </a:prstGeom>
          <a:solidFill>
            <a:srgbClr val="78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00" y="3913199"/>
            <a:ext cx="10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A0"/>
                </a:solidFill>
                <a:latin typeface="Calibri"/>
              </a:rPr>
              <a:t>BeMyEye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3077999"/>
            <a:ext cx="216000" cy="216000"/>
          </a:xfrm>
          <a:prstGeom prst="rect">
            <a:avLst/>
          </a:prstGeom>
          <a:solidFill>
            <a:srgbClr val="78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00" y="3239999"/>
            <a:ext cx="10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A0"/>
                </a:solidFill>
                <a:latin typeface="Calibri"/>
              </a:rPr>
              <a:t>Trax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4000" y="1457999"/>
            <a:ext cx="288000" cy="288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8000" y="1781999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DF5"/>
                </a:solidFill>
                <a:latin typeface="Calibri"/>
              </a:rPr>
              <a:t>MOSAIC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2800" y="1324799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E096"/>
                </a:solidFill>
                <a:latin typeface="Calibri"/>
              </a:rPr>
              <a:t>White
space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868000" y="1007999"/>
          <a:ext cx="59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000"/>
                <a:gridCol w="1188000"/>
                <a:gridCol w="1188000"/>
                <a:gridCol w="1188000"/>
                <a:gridCol w="1188000"/>
              </a:tblGrid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Field Agent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BeMyEye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Trax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MOSAIC</a:t>
                      </a:r>
                    </a:p>
                  </a:txBody>
                  <a:tcPr>
                    <a:solidFill>
                      <a:srgbClr val="7C6DF5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Consumer tier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AI extraction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&lt;4hr SLA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Route matching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On-device GDPR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Self-serve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SMB pricing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0000" y="5148000"/>
            <a:ext cx="1111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947"/>
                </a:solidFill>
                <a:latin typeface="Calibri"/>
              </a:rPr>
              <a:t>No company with strong AI capability has ever built a consumer/SMB product in this space.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  <a:latin typeface="Calibri"/>
              </a:rP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2160000" cy="3175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EEF8"/>
                </a:solidFill>
                <a:latin typeface="Calibri"/>
              </a:rPr>
              <a:t>Three tiers. One platform. 55%+ gross margin.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44000"/>
            <a:ext cx="3528000" cy="306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44000"/>
            <a:ext cx="3528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1160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DF5"/>
                </a:solidFill>
                <a:latin typeface="Calibri"/>
              </a:rPr>
              <a:t>TIER 1 · CONSUMER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1422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EEEF8"/>
                </a:solidFill>
                <a:latin typeface="Calibri"/>
              </a:rPr>
              <a:t>Pay-per-task / Credit wallet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169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8A0"/>
                </a:solidFill>
                <a:latin typeface="Calibri"/>
              </a:rPr>
              <a:t>$5–$25 /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1944000"/>
            <a:ext cx="3240000" cy="127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" y="2016000"/>
            <a:ext cx="3240000" cy="2700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0160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0"/>
                </a:solidFill>
                <a:latin typeface="Calibri"/>
              </a:rPr>
              <a:t>52% gross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" y="2340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ACQ: App store · Viral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" y="2628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Mobile professionals,
parents, local businesses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4000" y="1044000"/>
            <a:ext cx="3528000" cy="306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4000" y="1044000"/>
            <a:ext cx="3528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8000" y="11160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D4"/>
                </a:solidFill>
                <a:latin typeface="Calibri"/>
              </a:rPr>
              <a:t>TIER 2 · SMB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000" y="1422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EEEF8"/>
                </a:solidFill>
                <a:latin typeface="Calibri"/>
              </a:rPr>
              <a:t>$49–$749 / month
Self-serve 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8000" y="169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8A0"/>
                </a:solidFill>
                <a:latin typeface="Calibri"/>
              </a:rPr>
              <a:t>5–150 tasks/month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8000" y="1944000"/>
            <a:ext cx="3240000" cy="127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8000" y="2016000"/>
            <a:ext cx="3240000" cy="2700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8000" y="20160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0"/>
                </a:solidFill>
                <a:latin typeface="Calibri"/>
              </a:rPr>
              <a:t>62% gross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8000" y="2340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ACQ: PLG · Content · Shopify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8000" y="2628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Indie brands, franchise
operators, property mgrs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0" y="1044000"/>
            <a:ext cx="3528000" cy="306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0000" y="1044000"/>
            <a:ext cx="35280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4000" y="11160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96"/>
                </a:solidFill>
                <a:latin typeface="Calibri"/>
              </a:rPr>
              <a:t>TIER 3 · 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4000" y="1422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EEEF8"/>
                </a:solidFill>
                <a:latin typeface="Calibri"/>
              </a:rPr>
              <a:t>$2,500–$50,000+ / month
Annual 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4000" y="1692000"/>
            <a:ext cx="32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8A0"/>
                </a:solidFill>
                <a:latin typeface="Calibri"/>
              </a:rPr>
              <a:t>200–10,000+ tasks/month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4000" y="1944000"/>
            <a:ext cx="3240000" cy="127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4000" y="2016000"/>
            <a:ext cx="3240000" cy="2700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4000" y="2016000"/>
            <a:ext cx="32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10"/>
                </a:solidFill>
                <a:latin typeface="Calibri"/>
              </a:rPr>
              <a:t>58% gross margin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4000" y="2340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ACQ: Founder sales → AE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4000" y="2628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CPG brands, retailers,
insurers, QSR chains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68000" y="4212000"/>
          <a:ext cx="720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EEF8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00E0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EEF8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00E0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EEF8"/>
                          </a:solidFill>
                          <a:latin typeface="Calibri"/>
                        </a:rPr>
                        <a:t>Training Data</a:t>
                      </a:r>
                    </a:p>
                  </a:txBody>
                  <a:tcPr>
                    <a:solidFill>
                      <a:srgbClr val="00E0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EEEF8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00E096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Mo 3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Mo 6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$99K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$99K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Mo 12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$354K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$22K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$376K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Mo 18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$822K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$85K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$907K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Mo 24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$1.6M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$210K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EEEEF8"/>
                          </a:solidFill>
                          <a:latin typeface="Calibri"/>
                        </a:rPr>
                        <a:t>$1.81M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8028000" y="4212000"/>
            <a:ext cx="3851999" cy="1620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2000" y="4284000"/>
            <a:ext cx="3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947"/>
                </a:solidFill>
                <a:latin typeface="Calibri"/>
              </a:rPr>
              <a:t>TRAINING DATA FLYWHEEL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000" y="4572000"/>
            <a:ext cx="3600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Every task produces labeled
real-world visual data.
At Mo 12: 22K tasks/day →
licenseable training images.
95% gross margin.
Incumbents don't have this
— no consumer tier.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000" y="5940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A0"/>
                </a:solidFill>
                <a:latin typeface="Calibri"/>
              </a:rPr>
              <a:t>Agent payout: 40% of task price (fixed)  ·  Platform take: 60% gross  →  AI/infra ~6%  →  Net: 54% blended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947"/>
                </a:solidFill>
                <a:latin typeface="Calibri"/>
              </a:rP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440000" cy="3175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EEF8"/>
                </a:solidFill>
                <a:latin typeface="Calibri"/>
              </a:rPr>
              <a:t>8 weeks. 2 people. AI-native velocity.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44000"/>
            <a:ext cx="2664000" cy="144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44000"/>
            <a:ext cx="2664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116000"/>
            <a:ext cx="244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6DF5"/>
                </a:solidFill>
                <a:latin typeface="Calibri"/>
              </a:rPr>
              <a:t>[X]
Verified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72000"/>
            <a:ext cx="24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in [# cities]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4000" y="1044000"/>
            <a:ext cx="2664000" cy="144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4000" y="1044000"/>
            <a:ext cx="2664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2000" y="1116000"/>
            <a:ext cx="244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D4"/>
                </a:solidFill>
                <a:latin typeface="Calibri"/>
              </a:rPr>
              <a:t>[X]
Tasks 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2000" y="1872000"/>
            <a:ext cx="24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in [# weeks]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044000"/>
            <a:ext cx="2664000" cy="144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0000" y="1044000"/>
            <a:ext cx="26640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8000" y="1116000"/>
            <a:ext cx="244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096"/>
                </a:solidFill>
                <a:latin typeface="Calibri"/>
              </a:rPr>
              <a:t>[X]
Paying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8000" y="1872000"/>
            <a:ext cx="24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[X] pilots 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6000" y="1044000"/>
            <a:ext cx="2664000" cy="144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6000" y="1044000"/>
            <a:ext cx="2664000" cy="252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4000" y="1116000"/>
            <a:ext cx="244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947"/>
                </a:solidFill>
                <a:latin typeface="Calibri"/>
              </a:rPr>
              <a:t>$[X]K
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4000" y="1872000"/>
            <a:ext cx="24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Month [X]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2592000"/>
            <a:ext cx="6660000" cy="2592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000" y="2592000"/>
            <a:ext cx="6660000" cy="252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2664000"/>
            <a:ext cx="64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947"/>
                </a:solidFill>
                <a:latin typeface="Calibri"/>
              </a:rPr>
              <a:t>WHAT 2 PEOPLE BUILT IN 8 WEEKS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" y="2951999"/>
            <a:ext cx="64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→  Agent app (iOS + Android) — Expo / React 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" y="3293999"/>
            <a:ext cx="64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→  Customer portal — Next.js + Supabase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" y="3635999"/>
            <a:ext cx="64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→  AI extraction pipeline — GPT-4V + custom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3977999"/>
            <a:ext cx="64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→  Route-matching algorithm — geospatial corridor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" y="4319999"/>
            <a:ext cx="64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→  3-tier pricing engine + payment 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000" y="4661999"/>
            <a:ext cx="64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EEEF8"/>
                </a:solidFill>
                <a:latin typeface="Calibri"/>
              </a:rPr>
              <a:t>→  On-device face redaction — MediaPipe + TFLite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88000" y="2592000"/>
            <a:ext cx="4212000" cy="1260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2000" y="2664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A0"/>
                </a:solidFill>
                <a:latin typeface="Calibri"/>
              </a:rPr>
              <a:t>BURN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2000" y="2916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096"/>
                </a:solidFill>
                <a:latin typeface="Calibri"/>
              </a:rPr>
              <a:t>$30K/month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2000" y="3348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2-person AI-native team
(replacing $80K+ in headcount)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88000" y="3996000"/>
            <a:ext cx="4212000" cy="1188000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2000" y="4068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878A0"/>
                </a:solidFill>
                <a:latin typeface="Calibri"/>
              </a:rPr>
              <a:t>KEY PROOF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2000" y="4356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✓  [First customer signed at $X/month]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2000" y="4554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✓  [X]% task fulfillment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2000" y="4752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✓  [X]% agent retention M1→M2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2000" y="4950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F8"/>
                </a:solidFill>
                <a:latin typeface="Calibri"/>
              </a:rPr>
              <a:t>✓  [Agent NPS / Customer NPS]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DF5"/>
                </a:solidFill>
                <a:latin typeface="Calibri"/>
              </a:rP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080000" cy="3175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EEEF8"/>
                </a:solidFill>
                <a:latin typeface="Calibri"/>
              </a:rPr>
              <a:t>The two people who can build this — and the AI team they've assembled.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44000"/>
            <a:ext cx="5328000" cy="25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44000"/>
            <a:ext cx="5328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000" y="1152000"/>
            <a:ext cx="1007999" cy="1007999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224000"/>
            <a:ext cx="1007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6DF5"/>
                </a:solidFill>
                <a:latin typeface="Calibri"/>
              </a:rPr>
              <a:t>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000" y="1152000"/>
            <a:ext cx="38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EEEF8"/>
                </a:solidFill>
                <a:latin typeface="Calibri"/>
              </a:rPr>
              <a:t>[CEO NAME] — Commercial Founder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000" y="1475999"/>
            <a:ext cx="39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→  [X] yrs at [CPG company] — managed $Xm competitive intelligence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000" y="1781999"/>
            <a:ext cx="39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→  Sold $X in enterprise SaaS; knows CPG procurement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000" y="2087999"/>
            <a:ext cx="39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→  [Relevant exits / companies]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000" y="2520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linkedin.com/in/[handle]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2000" y="1044000"/>
            <a:ext cx="5328000" cy="252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044000"/>
            <a:ext cx="53280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72000" y="1152000"/>
            <a:ext cx="1007999" cy="1007999"/>
          </a:xfrm>
          <a:prstGeom prst="rect">
            <a:avLst/>
          </a:prstGeom>
          <a:solidFill>
            <a:srgbClr val="16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1224000"/>
            <a:ext cx="100799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D4"/>
                </a:solidFill>
                <a:latin typeface="Calibri"/>
              </a:rPr>
              <a:t>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000" y="1152000"/>
            <a:ext cx="38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EEEF8"/>
                </a:solidFill>
                <a:latin typeface="Calibri"/>
              </a:rPr>
              <a:t>[CTO NAME] — Technical Founder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000" y="1475999"/>
            <a:ext cx="39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→  Shipped [consumer app with X million users] — mobile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000" y="1781999"/>
            <a:ext cx="39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→  [AI/ML background] — real-time inference pipelines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000" y="2087999"/>
            <a:ext cx="39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→  [Relevant exits / companies]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000" y="2520000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github.com/[handle]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000" y="3708000"/>
            <a:ext cx="11257200" cy="1440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000" y="3708000"/>
            <a:ext cx="112572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000" y="3780000"/>
            <a:ext cx="10969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96"/>
                </a:solidFill>
                <a:latin typeface="Calibri"/>
              </a:rPr>
              <a:t>THE AI TEAM — $2,400/month replaces $80,000/month in headcount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" y="4104000"/>
            <a:ext cx="26343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EEF8"/>
                </a:solidFill>
                <a:latin typeface="Calibri"/>
              </a:rPr>
              <a:t>Claude Code + Cursor + Devin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4374000"/>
            <a:ext cx="2634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4× engineering velocity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4300" y="4104000"/>
            <a:ext cx="26343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EEF8"/>
                </a:solidFill>
                <a:latin typeface="Calibri"/>
              </a:rPr>
              <a:t>v0 + Figma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4300" y="4374000"/>
            <a:ext cx="2634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Design without headcount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600" y="4104000"/>
            <a:ext cx="26343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EEF8"/>
                </a:solidFill>
                <a:latin typeface="Calibri"/>
              </a:rPr>
              <a:t>Pilot.ai + Stripe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600" y="4374000"/>
            <a:ext cx="2634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Finance without headcount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8900" y="4104000"/>
            <a:ext cx="26343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EEF8"/>
                </a:solidFill>
                <a:latin typeface="Calibri"/>
              </a:rPr>
              <a:t>Intercom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8900" y="4374000"/>
            <a:ext cx="2634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8A0"/>
                </a:solidFill>
                <a:latin typeface="Calibri"/>
              </a:rPr>
              <a:t>CS without headcount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00" y="4716000"/>
            <a:ext cx="1096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947"/>
                </a:solidFill>
                <a:latin typeface="Calibri"/>
              </a:rPr>
              <a:t>Combined: the output of a 12-person team at a $30K/month burn rate.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D4"/>
                </a:solidFill>
                <a:latin typeface="Calibri"/>
              </a:rPr>
              <a:t>FINANCIALS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800000" cy="3175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EEEF8"/>
                </a:solidFill>
                <a:latin typeface="Calibri"/>
              </a:rPr>
              <a:t>Bottom-up projections. Three tiers. Series A trigger at Month 18.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68000" y="1044000"/>
          <a:ext cx="112572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171"/>
                <a:gridCol w="1608171"/>
                <a:gridCol w="1608171"/>
                <a:gridCol w="1608171"/>
                <a:gridCol w="1608171"/>
                <a:gridCol w="1608171"/>
                <a:gridCol w="1608174"/>
              </a:tblGrid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>
                    <a:solidFill>
                      <a:srgbClr val="00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T1 Consumer</a:t>
                      </a:r>
                    </a:p>
                  </a:txBody>
                  <a:tcPr>
                    <a:solidFill>
                      <a:srgbClr val="00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T2 SMB</a:t>
                      </a:r>
                    </a:p>
                  </a:txBody>
                  <a:tcPr>
                    <a:solidFill>
                      <a:srgbClr val="00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T3 Enterprise</a:t>
                      </a:r>
                    </a:p>
                  </a:txBody>
                  <a:tcPr>
                    <a:solidFill>
                      <a:srgbClr val="00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MRR Total</a:t>
                      </a:r>
                    </a:p>
                  </a:txBody>
                  <a:tcPr>
                    <a:solidFill>
                      <a:srgbClr val="00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Training Data</a:t>
                      </a:r>
                    </a:p>
                  </a:txBody>
                  <a:tcPr>
                    <a:solidFill>
                      <a:srgbClr val="00D4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EEEF8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>
                    <a:solidFill>
                      <a:srgbClr val="00D4D4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3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$6,600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$6,225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$22,000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$34,825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$34,825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6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$24,200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$24,900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$49,500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$98,600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$98,600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9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$44,000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$57,200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$82,500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$183,700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$183,700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12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$88,000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$107,070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$137,500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$354,570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$22,000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$376,570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15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$143,000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$170,100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$192,500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$505,600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$52,000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$557,600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18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$220,000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$242,100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$275,000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$822,100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$85,000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$907,100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21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$385,000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$319,000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$385,000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$1,089,000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$145,000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$1,234,000</a:t>
                      </a:r>
                    </a:p>
                  </a:txBody>
                  <a:tcPr>
                    <a:solidFill>
                      <a:srgbClr val="12121E"/>
                    </a:solidFill>
                  </a:tcPr>
                </a:tc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Mo 24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$550,000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$398,800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$467,500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$1,626,300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$210,000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EEEF8"/>
                          </a:solidFill>
                          <a:latin typeface="Calibri"/>
                        </a:rPr>
                        <a:t>$1,836,300</a:t>
                      </a:r>
                    </a:p>
                  </a:txBody>
                  <a:tcPr>
                    <a:solidFill>
                      <a:srgbClr val="16162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68000" y="3996000"/>
            <a:ext cx="2742300" cy="122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3996000"/>
            <a:ext cx="2742300" cy="216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4031999"/>
            <a:ext cx="2598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DF5"/>
                </a:solidFill>
                <a:latin typeface="Calibri"/>
              </a:rPr>
              <a:t>Month 18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4284000"/>
            <a:ext cx="2598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EEF8"/>
                </a:solidFill>
                <a:latin typeface="Calibri"/>
              </a:rPr>
              <a:t>$10.9M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4752000"/>
            <a:ext cx="2598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A0"/>
                </a:solidFill>
                <a:latin typeface="Calibri"/>
              </a:rPr>
              <a:t>Series A trigger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300" y="3996000"/>
            <a:ext cx="2742300" cy="122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82300" y="3996000"/>
            <a:ext cx="2742300" cy="216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0300" y="4031999"/>
            <a:ext cx="2598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D4"/>
                </a:solidFill>
                <a:latin typeface="Calibri"/>
              </a:rPr>
              <a:t>Blended 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0300" y="4284000"/>
            <a:ext cx="2598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EEF8"/>
                </a:solidFill>
                <a:latin typeface="Calibri"/>
              </a:rPr>
              <a:t>55% → 65%+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0300" y="4752000"/>
            <a:ext cx="2598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A0"/>
                </a:solidFill>
                <a:latin typeface="Calibri"/>
              </a:rPr>
              <a:t>at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600" y="3996000"/>
            <a:ext cx="2742300" cy="122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600" y="3996000"/>
            <a:ext cx="2742300" cy="216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4600" y="4031999"/>
            <a:ext cx="2598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  <a:latin typeface="Calibri"/>
              </a:rPr>
              <a:t>Burn Rate (Post-Seed)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600" y="4284000"/>
            <a:ext cx="2598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EEF8"/>
                </a:solidFill>
                <a:latin typeface="Calibri"/>
              </a:rPr>
              <a:t>$120K/month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4600" y="4752000"/>
            <a:ext cx="2598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A0"/>
                </a:solidFill>
                <a:latin typeface="Calibri"/>
              </a:rPr>
              <a:t>team expands to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0900" y="3996000"/>
            <a:ext cx="2742300" cy="122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0900" y="3996000"/>
            <a:ext cx="2742300" cy="216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8900" y="4031999"/>
            <a:ext cx="25983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947"/>
                </a:solidFill>
                <a:latin typeface="Calibri"/>
              </a:rPr>
              <a:t>Break-even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900" y="4284000"/>
            <a:ext cx="25983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EEF8"/>
                </a:solidFill>
                <a:latin typeface="Calibri"/>
              </a:rPr>
              <a:t>Month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8900" y="4752000"/>
            <a:ext cx="2598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A0"/>
                </a:solidFill>
                <a:latin typeface="Calibri"/>
              </a:rPr>
              <a:t>on seed capital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5328000"/>
            <a:ext cx="1111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8A0"/>
                </a:solidFill>
                <a:latin typeface="Calibri"/>
              </a:rPr>
              <a:t>Key assumptions: 40% agent payout · 2.5% enterprise churn/mo · 5% SMB churn/mo · 3-city launch Mo 4 · 8 cities Mo 12 · MAC at Mo 12: 3,000–5,000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612000"/>
            <a:ext cx="1260000" cy="3175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EEF8"/>
                </a:solidFill>
                <a:latin typeface="Calibri"/>
              </a:rPr>
              <a:t>We're raising $5M to prove three cities and three 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1007999"/>
            <a:ext cx="2706300" cy="86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8000" y="1007999"/>
            <a:ext cx="27063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00" y="1062000"/>
            <a:ext cx="2490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DF5"/>
                </a:solidFill>
                <a:latin typeface="Calibri"/>
              </a:rPr>
              <a:t>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78000"/>
            <a:ext cx="2490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EEEF8"/>
                </a:solidFill>
                <a:latin typeface="Calibri"/>
              </a:rPr>
              <a:t>$5,000,000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2300" y="1007999"/>
            <a:ext cx="2706300" cy="86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82300" y="1007999"/>
            <a:ext cx="2706300" cy="25200"/>
          </a:xfrm>
          <a:prstGeom prst="rect">
            <a:avLst/>
          </a:prstGeom>
          <a:solidFill>
            <a:srgbClr val="00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0300" y="1062000"/>
            <a:ext cx="2490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D4"/>
                </a:solidFill>
                <a:latin typeface="Calibri"/>
              </a:rPr>
              <a:t>PRE-MONEY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300" y="1278000"/>
            <a:ext cx="2490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EEEF8"/>
                </a:solidFill>
                <a:latin typeface="Calibri"/>
              </a:rPr>
              <a:t>$20M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600" y="1007999"/>
            <a:ext cx="2706300" cy="86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600" y="1007999"/>
            <a:ext cx="27063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4600" y="1062000"/>
            <a:ext cx="2490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  <a:latin typeface="Calibri"/>
              </a:rPr>
              <a:t>DILUTION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4600" y="1278000"/>
            <a:ext cx="2490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EEEF8"/>
                </a:solidFill>
                <a:latin typeface="Calibri"/>
              </a:rPr>
              <a:t>~20%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0900" y="1007999"/>
            <a:ext cx="2706300" cy="864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0900" y="1007999"/>
            <a:ext cx="2706300" cy="252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8900" y="1062000"/>
            <a:ext cx="24903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947"/>
                </a:solidFill>
                <a:latin typeface="Calibri"/>
              </a:rPr>
              <a:t>RUNWAY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8900" y="1278000"/>
            <a:ext cx="2490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EEEF8"/>
                </a:solidFill>
                <a:latin typeface="Calibri"/>
              </a:rPr>
              <a:t>18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000" y="2015999"/>
            <a:ext cx="6120000" cy="3311999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000" y="2015999"/>
            <a:ext cx="6120000" cy="25200"/>
          </a:xfrm>
          <a:prstGeom prst="rect">
            <a:avLst/>
          </a:prstGeom>
          <a:solidFill>
            <a:srgbClr val="7C6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2070000"/>
            <a:ext cx="59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DF5"/>
                </a:solidFill>
                <a:latin typeface="Calibri"/>
              </a:rPr>
              <a:t>USE OF FUNDS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" y="23940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Engineering team (3 hires)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0" y="23940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$1,500,000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2000" y="23940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27432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Agent acquisition (4 cities)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27432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$1,000,000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2000" y="27432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" y="30924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ML / AI model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0" y="30924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$500,000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2000" y="30924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000" y="34416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Enterprise sales (1 AE)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0000" y="34416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$500,000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2000" y="34416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000" y="37908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Marketing (SMB + consumer)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000" y="37908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$500,000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2000" y="37908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10%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000" y="41400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Legal / compliance (GDPR, SOC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0" y="41400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$300,000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2000" y="41400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 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000" y="44892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Operations (city launches)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0" y="44892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$400,000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2000" y="44892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 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000" y="4838400"/>
            <a:ext cx="378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Buffer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0000" y="4838400"/>
            <a:ext cx="12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D4D4"/>
                </a:solidFill>
                <a:latin typeface="Calibri"/>
              </a:rPr>
              <a:t>$300,000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52000" y="4838400"/>
            <a:ext cx="7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78A0"/>
                </a:solidFill>
                <a:latin typeface="Calibri"/>
              </a:rPr>
              <a:t> 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20000" y="2015999"/>
            <a:ext cx="4860000" cy="3311999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20000" y="2015999"/>
            <a:ext cx="4860000" cy="252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63999" y="2070000"/>
            <a:ext cx="46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96"/>
                </a:solidFill>
                <a:latin typeface="Calibri"/>
              </a:rPr>
              <a:t>MILESTONES THIS CAPITAL BUYS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63999" y="2358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✓  4 cities live (Atlanta, Dallas, London, Amsterdam)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3999" y="2754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✓  15,000 registered · 3,000–5,000 monthly active collectors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3999" y="3150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✓  50 enterprise customers + 600 SMB subscribers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3999" y="3546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✓  $3.5M ARR by Month 12 (stretch: $4.2M)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3999" y="3942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✓  $10M+ ARR run rate trigger → Series 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63999" y="4338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✓  GDPR compliance architecture completed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63999" y="4734000"/>
            <a:ext cx="460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F8"/>
                </a:solidFill>
                <a:latin typeface="Calibri"/>
              </a:rPr>
              <a:t>✓  Series A raise begins Month 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8000" y="5436000"/>
            <a:ext cx="11257200" cy="648000"/>
          </a:xfrm>
          <a:prstGeom prst="rect">
            <a:avLst/>
          </a:prstGeom>
          <a:solidFill>
            <a:srgbClr val="0C0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0000" y="5508000"/>
            <a:ext cx="1075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1">
                <a:solidFill>
                  <a:srgbClr val="7C6DF5"/>
                </a:solidFill>
                <a:latin typeface="Calibri"/>
              </a:rPr>
              <a:t>"The physical world is ready to answer."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0000" y="6156000"/>
            <a:ext cx="1111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878A0"/>
                </a:solidFill>
                <a:latin typeface="Calibri"/>
              </a:rPr>
              <a:t>Series A at Month 18: $10M ARR · 10× revenue multiple → $100M valuation · 3× YoY growth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00" y="144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78A0"/>
                </a:solidFill>
                <a:latin typeface="Calibri"/>
              </a:rPr>
              <a:t>MOSAIC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93200" y="653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878A0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