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</a:rPr>
              <a:t>MOSAIC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481328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7C3AED"/>
                </a:solidFill>
              </a:rPr>
              <a:t>MOSAIC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</a:rPr>
              <a:t>MOSAIC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37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4B5FD"/>
                </a:solidFill>
              </a:rPr>
              <a:t>Ground truth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D8EC2"/>
                </a:solidFill>
              </a:rPr>
              <a:t>Physical world intelligence — on demand, AI-extracted,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434840"/>
            <a:ext cx="484632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8EC2"/>
                </a:solidFill>
              </a:rPr>
              <a:t>[Founder Name]  ·  [Founder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D8EC2"/>
                </a:solidFill>
              </a:rPr>
              <a:t>hello@mosaic-intel.com  |  mosaic-intel.com  |  Confidential ·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"/>
            <a:ext cx="82296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47472"/>
            <a:ext cx="82296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12064"/>
            <a:ext cx="82296" cy="8229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182880"/>
            <a:ext cx="82296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47472"/>
            <a:ext cx="82296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512064"/>
            <a:ext cx="82296" cy="8229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3" y="182880"/>
            <a:ext cx="82296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3" y="347472"/>
            <a:ext cx="82296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3" y="512064"/>
            <a:ext cx="82296" cy="8229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182880"/>
            <a:ext cx="82296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" y="347472"/>
            <a:ext cx="82296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12064"/>
            <a:ext cx="82296" cy="8229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" y="182880"/>
            <a:ext cx="82296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" y="347472"/>
            <a:ext cx="82296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512064"/>
            <a:ext cx="82296" cy="8229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182880"/>
            <a:ext cx="82296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347472"/>
            <a:ext cx="82296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512064"/>
            <a:ext cx="82296" cy="8229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physical world is opaque —
and everyone pays for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3657600" cy="1600200"/>
          </a:xfrm>
          <a:prstGeom prst="rect">
            <a:avLst/>
          </a:prstGeom>
          <a:solidFill>
            <a:srgbClr val="1E1535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</a:rPr>
              <a:t>CPG BRANDS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Lost 4–8% of revenue to
out-of-stocks they never
knew about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74519"/>
            <a:ext cx="3657600" cy="1600200"/>
          </a:xfrm>
          <a:prstGeom prst="rect">
            <a:avLst/>
          </a:prstGeom>
          <a:solidFill>
            <a:srgbClr val="1E1535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RETAILERS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Can't verify compliance
without 2-week delay
and $200/visit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874519"/>
            <a:ext cx="3657600" cy="1600200"/>
          </a:xfrm>
          <a:prstGeom prst="rect">
            <a:avLst/>
          </a:prstGeom>
          <a:solidFill>
            <a:srgbClr val="1E1535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</a:rPr>
              <a:t>CONSUMERS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Can't trust outdated
photos, surveys, and
stale shelf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74552" cy="1965960"/>
          </a:xfrm>
          <a:prstGeom prst="rect">
            <a:avLst/>
          </a:prstGeom>
          <a:solidFill>
            <a:srgbClr val="281848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THE CORE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The physical world generates zero data unless someone deliberately captures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Field checks cost $50–$300 per visit · Take 2–3 weeks · Cover &lt;5% of locations · Deliver no machine-readable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$35B is spent on physical world intelligence per year. Most of it produces data that's already outdated when it arrives.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Mosaic turns any smartphone into a
verified data collection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2194560" cy="256032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514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ENTERPRISE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4B5FD"/>
                </a:solidFill>
              </a:rPr>
              <a:t>Check oat milk shelf at 50
London Tesco 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926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C3AED"/>
                </a:solidFill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920240"/>
            <a:ext cx="2194560" cy="256032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514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</a:rPr>
              <a:t>MOSAIC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4B5FD"/>
                </a:solidFill>
              </a:rPr>
              <a:t>12 agents already near those
stores on their commutes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926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C3AED"/>
                </a:solidFill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920240"/>
            <a:ext cx="2194560" cy="2560320"/>
          </a:xfrm>
          <a:prstGeom prst="rect">
            <a:avLst/>
          </a:prstGeom>
          <a:solidFill>
            <a:srgbClr val="1E15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9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514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</a:rPr>
              <a:t>AGENTS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4B5FD"/>
                </a:solidFill>
              </a:rPr>
              <a:t>On-device face redaction +
quality check before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926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C3AED"/>
                </a:solidFill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920240"/>
            <a:ext cx="2194560" cy="2560320"/>
          </a:xfrm>
          <a:prstGeom prst="rect">
            <a:avLst/>
          </a:prstGeom>
          <a:solidFill>
            <a:srgbClr val="1E1535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514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97316"/>
                </a:solidFill>
              </a:rPr>
              <a:t>AI EXTRACTS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4B5FD"/>
                </a:solidFill>
              </a:rPr>
              <a:t>JSON data, compliance scores,
anomaly flags — in 4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926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C3AED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1920240"/>
            <a:ext cx="2194560" cy="2560320"/>
          </a:xfrm>
          <a:prstGeom prst="rect">
            <a:avLst/>
          </a:prstGeom>
          <a:solidFill>
            <a:srgbClr val="1E1535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514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C4899"/>
                </a:solidFill>
              </a:rPr>
              <a:t>INTELLIGENCE 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4B5FD"/>
                </a:solidFill>
              </a:rPr>
              <a:t>6 OOS · 3 wrong placement
41 compliant — actionable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8EC2"/>
                </a:solidFill>
              </a:rPr>
              <a:t>Consumer posts in 90 seconds.  Enterprise integrates via API.  Everyone gets ground truth — faster and cheaper than anything else.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90 sec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to post a 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4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to deliver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45 sec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per agent task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59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55%+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59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gross margin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Three forces converged in 2026 —
making Mosaic possible and defensible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3657600" cy="292608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C3AED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ON-DEVICE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MediaPipe + TFLite run face redaction in real-time on any 2020+ smartphone. GDPR compliance without cloud roundtrip. This wasn't possible before 2024.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74519"/>
            <a:ext cx="3657600" cy="292608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GIG ECONOMY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50M+ gig workers globally. Deliveroo, Uber, DoorDash trained the supply side. We harvest the agent infrastructure they built.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657600" cy="2926080"/>
          </a:xfrm>
          <a:prstGeom prst="rect">
            <a:avLst/>
          </a:prstGeom>
          <a:solidFill>
            <a:srgbClr val="1E15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 EXTRACTION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GPT-4V class models extract structured data from photos with &gt;90% accuracy. A shelf photo becomes JSON data for $0.20 of compute.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83480"/>
            <a:ext cx="11457432" cy="1188720"/>
          </a:xfrm>
          <a:prstGeom prst="rect">
            <a:avLst/>
          </a:prstGeom>
          <a:solidFill>
            <a:srgbClr val="1A103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These three forces create a 24-month window before the major US platforms notice Europe.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The European competitor (BeMyEye) has no consumer tier. The enterprise AI buyers are ready — they signed AI tools faster in 2025 than any year prior.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product agents love to use
and customers can't stop checking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5394960" cy="420624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Post a task in 90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1. Enter location + task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2. Select 24hr or 4hr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561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3. Pay by credit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611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4. Receive AI-extracted JSON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Task types: Shelf audit · Crowd check · Stock verification
Brand compliance · Competitive pricing · Site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47472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C3AED"/>
                </a:solidFill>
              </a:rPr>
              <a:t>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874519"/>
            <a:ext cx="5394960" cy="420624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Earn £14.50 on your morning commute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1. Turn on Commute Mode before leaving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3101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2. Pre-accept 3 tasks along your 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8561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3. Complete each in 45–90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2611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4. Earn £14.50 before arriving at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846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Commute Mode: tasks matched to route, not just radius
Pre-acceptance: commit before you leave, earn on the 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$35B market · 22% CAGR
The largest segment has never had a self-serve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657600" cy="347472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$35B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Physical world intelligence
Retail + Mystery shopping +
Insurance field + AI training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3200400" cy="301752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2402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39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$8.5B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37560"/>
            <a:ext cx="29260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Crowdsourced, on-demand,
visual intelligence segment
Smartphone-first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2377440"/>
            <a:ext cx="2743200" cy="2560320"/>
          </a:xfrm>
          <a:prstGeom prst="rect">
            <a:avLst/>
          </a:prstGeom>
          <a:solidFill>
            <a:srgbClr val="1E15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59" y="2514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SOM (Yr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2880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$350M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611880"/>
            <a:ext cx="24688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50K enterprise + 2M SMB
+ 50M consumer credits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40680"/>
            <a:ext cx="11457432" cy="1097280"/>
          </a:xfrm>
          <a:prstGeom prst="rect">
            <a:avLst/>
          </a:prstGeom>
          <a:solidFill>
            <a:srgbClr val="1A103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THE CATEGORY THAT DOESN'T EXIST YET: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704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BeMyEye (enterprise-only): $35M in 15 years.   Field Agent (enterprise-only): no consumer tier.   Trax: hardware 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The consumer/SMB tier has never been served. That's $3–5B of market that doesn't yet exist as a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Three tiers. One platform. 55%+ gross margin.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338328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CONSUMER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$5–$25 /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Credit wallet
No commitment
App store / viral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3291840" cy="731520"/>
          </a:xfrm>
          <a:prstGeom prst="rect">
            <a:avLst/>
          </a:prstGeom>
          <a:solidFill>
            <a:srgbClr val="120A2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</a:rPr>
              <a:t>52%
gross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3657600" cy="338328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TIER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SMB SELF-SERVE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$49–$749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00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Monthly subscription
Credit card only
No sales call 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160520"/>
            <a:ext cx="3291840" cy="731520"/>
          </a:xfrm>
          <a:prstGeom prst="rect">
            <a:avLst/>
          </a:prstGeom>
          <a:solidFill>
            <a:srgbClr val="120A20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</a:rPr>
              <a:t>62%
gross margin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83080"/>
            <a:ext cx="3657600" cy="3383280"/>
          </a:xfrm>
          <a:prstGeom prst="rect">
            <a:avLst/>
          </a:prstGeom>
          <a:solidFill>
            <a:srgbClr val="1E1535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TIER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$2.5K–$50K+ /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Annual contracts
Custom SLAs
Founder → AE sales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160520"/>
            <a:ext cx="3291840" cy="731520"/>
          </a:xfrm>
          <a:prstGeom prst="rect">
            <a:avLst/>
          </a:prstGeom>
          <a:solidFill>
            <a:srgbClr val="120A2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</a:rPr>
              <a:t>58%
gross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7132320" cy="1188720"/>
          </a:xfrm>
          <a:prstGeom prst="rect">
            <a:avLst/>
          </a:prstGeom>
          <a:solidFill>
            <a:srgbClr val="1A103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UNIT ECONOMICS (BLENDED):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0644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Revenue $14  ·  Agent payout (40%) –$5.60  ·  AI processing –$0.20  ·  Infra –$0.36  →  Gross profit $7.14  (51%)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5349240"/>
            <a:ext cx="4206240" cy="1188720"/>
          </a:xfrm>
          <a:prstGeom prst="rect">
            <a:avLst/>
          </a:prstGeom>
          <a:solidFill>
            <a:srgbClr val="1A103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5440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BONUS REVENUE STREAM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806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AI training data licensing
Month 36: $2.4M/mo at 95% margin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Built by 2 people + AI in 8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560320" cy="137160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C3AED"/>
                </a:solidFill>
              </a:rPr>
              <a:t>[X]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Verified in [# cities]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737360"/>
            <a:ext cx="2560320" cy="137160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8470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6B6D4"/>
                </a:solidFill>
              </a:rPr>
              <a:t>[X]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Completed to 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737360"/>
            <a:ext cx="2560320" cy="1371600"/>
          </a:xfrm>
          <a:prstGeom prst="rect">
            <a:avLst/>
          </a:prstGeom>
          <a:solidFill>
            <a:srgbClr val="1E1535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8470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7316"/>
                </a:solidFill>
              </a:rPr>
              <a:t>[X]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Paying + active pilots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737360"/>
            <a:ext cx="2560320" cy="1371600"/>
          </a:xfrm>
          <a:prstGeom prst="rect">
            <a:avLst/>
          </a:prstGeom>
          <a:solidFill>
            <a:srgbClr val="1E1535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8470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C4899"/>
                </a:solidFill>
              </a:rPr>
              <a:t>$[X] 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8EC2"/>
                </a:solidFill>
              </a:rPr>
              <a:t>Across all 3 tiers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1457432" cy="228600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WHAT 2 PEOPLE + AI BUILT IN 8 WEEKS   ·   $30K/month burn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✓ Agent App (iOS + Android)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Flutter — task discovery, commute mode, on-device redaction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✓ Customer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Next.js + Supabase — task posting, live map, AI result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✓ AI Extraction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GPT-4V + custom validation — structured JSON in &lt;3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✓ Route-Matching Algorithm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Geospatial corridor matching — agent pre-acceptance before leaving 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D8EC2"/>
                </a:solidFill>
              </a:rPr>
              <a:t>Traditional team equivalent: 10 engineers, $400K burn,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Beachhead → expansion → the physical world intelligence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301752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PHASE 1
NOW → MONTH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BEACHHEAD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CPG shelf audits
2 US cities + London
10 enterprise customers
500 agents /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063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783080"/>
            <a:ext cx="3657600" cy="301752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PHASE 2
MONTH 6 →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MULTI-CITY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8 US + 5 EU cities
SMB self-serve launches
15,000 active agents
Content + PLG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063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657600" cy="3017520"/>
          </a:xfrm>
          <a:prstGeom prst="rect">
            <a:avLst/>
          </a:prstGeom>
          <a:solidFill>
            <a:srgbClr val="1E15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1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PHASE 3
MONTH 18+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</a:rPr>
              <a:t>Consumer brand launch
Data network effects
Training data $2M+/mo
Series A → global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83480"/>
            <a:ext cx="11457432" cy="155448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AGENT ACQUISITION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Campus Ambassadors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40%  ·  $10–20 CAC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Agent Referral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30%  ·  $15–25 CAC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Paid 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20%  ·  $30–60 CAC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Organic / App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10%  ·  $5–15 CAC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Blended CAC: $22  ·  Commute-mode agent LTV:CAC = 90:1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We occupy white space no incumbent has ever entered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5486400" cy="438912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745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D8EC2"/>
                </a:solidFill>
              </a:rPr>
              <a:t>HIGH AI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D8EC2"/>
                </a:solidFill>
              </a:rPr>
              <a:t>LOW AI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00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D8EC2"/>
                </a:solidFill>
              </a:rPr>
              <a:t>ENTERPRISE
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200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D8EC2"/>
                </a:solidFill>
              </a:rPr>
              <a:t>CONSUMER
+SMB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977639"/>
            <a:ext cx="2926080" cy="18288"/>
          </a:xfrm>
          <a:prstGeom prst="rect">
            <a:avLst/>
          </a:prstGeom>
          <a:solidFill>
            <a:srgbClr val="9D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0672" y="1874519"/>
            <a:ext cx="36576" cy="4297680"/>
          </a:xfrm>
          <a:prstGeom prst="rect">
            <a:avLst/>
          </a:prstGeom>
          <a:solidFill>
            <a:srgbClr val="9D8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3F5E"/>
                </a:solidFill>
              </a:rPr>
              <a:t>●  Field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3F5E"/>
                </a:solidFill>
              </a:rPr>
              <a:t>●  BeMyEye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●  Trax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148840"/>
            <a:ext cx="1371600" cy="502920"/>
          </a:xfrm>
          <a:prstGeom prst="rect">
            <a:avLst/>
          </a:prstGeom>
          <a:solidFill>
            <a:srgbClr val="7C3AE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217627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★ MOSAIC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5897880" cy="384048"/>
          </a:xfrm>
          <a:prstGeom prst="rect">
            <a:avLst/>
          </a:prstGeom>
          <a:solidFill>
            <a:srgbClr val="2A1A5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828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D8EC2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82880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D8EC2"/>
                </a:solidFill>
              </a:rPr>
              <a:t>Field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D8EC2"/>
                </a:solidFill>
              </a:rPr>
              <a:t>BeMyEye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1828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D8EC2"/>
                </a:solidFill>
              </a:rPr>
              <a:t>Trax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182880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MOSAIC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212848"/>
            <a:ext cx="5897880" cy="457200"/>
          </a:xfrm>
          <a:prstGeom prst="rect">
            <a:avLst/>
          </a:prstGeom>
          <a:solidFill>
            <a:srgbClr val="22143A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Consumer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27685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27685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2768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2276856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688336"/>
            <a:ext cx="5897880" cy="457200"/>
          </a:xfrm>
          <a:prstGeom prst="rect">
            <a:avLst/>
          </a:prstGeom>
          <a:solidFill>
            <a:srgbClr val="1E1535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7523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extraction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752344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7523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7523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2752344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63824"/>
            <a:ext cx="5897880" cy="457200"/>
          </a:xfrm>
          <a:prstGeom prst="rect">
            <a:avLst/>
          </a:prstGeom>
          <a:solidFill>
            <a:srgbClr val="22143A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227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&lt;4hr SLA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2278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2278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32278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3227832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639312"/>
            <a:ext cx="5897880" cy="457200"/>
          </a:xfrm>
          <a:prstGeom prst="rect">
            <a:avLst/>
          </a:prstGeom>
          <a:solidFill>
            <a:srgbClr val="1E1535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3703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Route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7033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7033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92840" y="3703320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4114800"/>
            <a:ext cx="5897880" cy="457200"/>
          </a:xfrm>
          <a:prstGeom prst="rect">
            <a:avLst/>
          </a:prstGeom>
          <a:solidFill>
            <a:srgbClr val="22143A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41788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GDPR on-device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17880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17880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D8EC2"/>
                </a:solidFill>
              </a:rPr>
              <a:t>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4178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4178808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4590288"/>
            <a:ext cx="5897880" cy="457200"/>
          </a:xfrm>
          <a:prstGeom prst="rect">
            <a:avLst/>
          </a:prstGeom>
          <a:solidFill>
            <a:srgbClr val="1E1535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465429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Self-serve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6542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6542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46542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</a:rP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4654296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two people who can build this —
and the AI team they've assembled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486400" cy="274320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COMMERCIAL FOUNDER /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[Founder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→ [X] years at [CPG brand] — managed $XM intel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→ Sold $XM in enterprise SaaS — knows CPG 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→ [Relevant exits / LinkedIn]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486400" cy="274320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TECHNICAL FOUNDER / 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[Founder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→ Shipped consumer app with XM users — mobile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→ AI/ML: real-time inference pipelines, computer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→ [Relevant exits / GitHub]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11457432" cy="1783080"/>
          </a:xfrm>
          <a:prstGeom prst="rect">
            <a:avLst/>
          </a:prstGeom>
          <a:solidFill>
            <a:srgbClr val="1E15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THE AI TEAM  ·  Combined output of a 12-person team at $30K/month burn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Claude Code + Cursor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4× engineering 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Figma AI + v0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Design without headcount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Pilot.ai + Stripe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Finance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Intercom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Customer success at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</a:rPr>
              <a:t>$30K/month burn vs $400K+ for equivalent traditional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$10M ARR in 18 months — three tiers, three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0607040" cy="411480"/>
          </a:xfrm>
          <a:prstGeom prst="rect">
            <a:avLst/>
          </a:prstGeom>
          <a:solidFill>
            <a:srgbClr val="2A1A5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D8EC2"/>
                </a:solidFill>
              </a:rP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D8EC2"/>
                </a:solidFill>
              </a:rPr>
              <a:t>Consumer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7451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D8EC2"/>
                </a:solidFill>
              </a:rPr>
              <a:t>SMB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7451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D8EC2"/>
                </a:solidFill>
              </a:rPr>
              <a:t>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7451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Total 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874519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ARR Run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0607040" cy="502920"/>
          </a:xfrm>
          <a:prstGeom prst="rect">
            <a:avLst/>
          </a:prstGeom>
          <a:solidFill>
            <a:srgbClr val="22143A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$6.6K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$6.2K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$22K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$34.8K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377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$418K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10607040" cy="502920"/>
          </a:xfrm>
          <a:prstGeom prst="rect">
            <a:avLst/>
          </a:prstGeom>
          <a:solidFill>
            <a:srgbClr val="1E1535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Month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926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$24.2K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26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$24.9K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$49.5K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$98.6K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$1.18M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83280"/>
            <a:ext cx="10607040" cy="502920"/>
          </a:xfrm>
          <a:prstGeom prst="rect">
            <a:avLst/>
          </a:prstGeom>
          <a:solidFill>
            <a:srgbClr val="22143A"/>
          </a:solidFill>
          <a:ln w="9525">
            <a:solidFill>
              <a:srgbClr val="2A1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74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Month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474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$88K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474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$107K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474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$138K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$355K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$4.25M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31920"/>
            <a:ext cx="10607040" cy="502920"/>
          </a:xfrm>
          <a:prstGeom prst="rect">
            <a:avLst/>
          </a:prstGeom>
          <a:solidFill>
            <a:srgbClr val="1A0D30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0233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Month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023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</a:rPr>
              <a:t>$220K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023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</a:rPr>
              <a:t>$242K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0233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</a:rPr>
              <a:t>$275K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0233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$822K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0233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$9.87M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572000"/>
            <a:ext cx="5303520" cy="196596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KEY ASSUMPTIONS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0292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· Agent payout: 40% (fixed)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3035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· Blended gross margin: 55% → 65%+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5778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· Enterprise churn: 2.5%/mo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852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· SMB churn: 5%/mo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126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· Break-even: Month 20 on seed capital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4572000"/>
            <a:ext cx="5074920" cy="196596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TRAINING DATA UPSIDE (NOT IN MODEL)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029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Month 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$22K/mo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303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Month 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5303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$85K/mo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577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Month 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577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$210K/mo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5852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D8EC2"/>
                </a:solidFill>
              </a:rPr>
              <a:t>Month 36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5852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$2.4M/mo @ 95% margin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We're raising $5M to prove
three cities and three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029200" cy="2011680"/>
          </a:xfrm>
          <a:prstGeom prst="rect">
            <a:avLst/>
          </a:prstGeom>
          <a:solidFill>
            <a:srgbClr val="1E1535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THE RAISE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8EC2"/>
                </a:solidFill>
              </a:rPr>
              <a:t>Amount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$5,000,000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8EC2"/>
                </a:solidFill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Series Seed Preferred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8EC2"/>
                </a:solidFill>
              </a:rPr>
              <a:t>Pre-Money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$20–25M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8EC2"/>
                </a:solidFill>
              </a:rPr>
              <a:t>Runway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18 months → Series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828800"/>
            <a:ext cx="6611112" cy="201168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920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USE OF FUNDS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Engineering (3 hires)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$1.5M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3AED"/>
                </a:solidFill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Agent acquisition (4 cities)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$1.0M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2651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3AED"/>
                </a:solidFill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ML/AI model dev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$500K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3AED"/>
                </a:solidFill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</a:rPr>
              <a:t>Enterprise sales + 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383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$1.0M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3AED"/>
                </a:solidFill>
              </a:rPr>
              <a:t>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57432" cy="1554480"/>
          </a:xfrm>
          <a:prstGeom prst="rect">
            <a:avLst/>
          </a:prstGeom>
          <a:solidFill>
            <a:srgbClr val="1E15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MILESTONES THIS CAPITAL BUYS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4805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✓ 4 cities live: Atlanta, Dallas, London, Amsterdam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805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✓ 15,000 active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00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✓ 50 enterprise + 600 SMB subscribers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800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✓ $10M ARR run rate by Month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1206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✓ GDPR compliance architecture 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1206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✓ Series A raise begins Month 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15000"/>
            <a:ext cx="11457432" cy="822960"/>
          </a:xfrm>
          <a:prstGeom prst="rect">
            <a:avLst/>
          </a:prstGeom>
          <a:solidFill>
            <a:srgbClr val="1A0D3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SERIES A TARGET: $100M at $100M+ pre-money  ·  10× ARR multiple  ·  "The Field Agent for the AI era"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APPENDIX: EUROPEAN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EU-first: less competition, more regulation-readiness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566160" cy="1828800"/>
          </a:xfrm>
          <a:prstGeom prst="rect">
            <a:avLst/>
          </a:prstGeom>
          <a:solidFill>
            <a:srgbClr val="1E1535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🇬🇧 LONDON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Unilever + Reckitt HQ
English-native
ICO pragmatic regulator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920240"/>
            <a:ext cx="3566160" cy="1828800"/>
          </a:xfrm>
          <a:prstGeom prst="rect">
            <a:avLst/>
          </a:prstGeom>
          <a:solidFill>
            <a:srgbClr val="1E15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29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🇳🇱 AMSTERDAM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Heineken HQ
95% English proficiency
Dutch startup ecosystem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566160" cy="1828800"/>
          </a:xfrm>
          <a:prstGeom prst="rect">
            <a:avLst/>
          </a:prstGeom>
          <a:solidFill>
            <a:srgbClr val="1E15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29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🇩🇪 BERLIN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Month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Henkel + Beiersdorf
Largest EU economy
High gig density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4023360"/>
            <a:ext cx="3566160" cy="1828800"/>
          </a:xfrm>
          <a:prstGeom prst="rect">
            <a:avLst/>
          </a:prstGeom>
          <a:solidFill>
            <a:srgbClr val="1E1535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79" y="4133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🇪🇸 BARCELONA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44805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Month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48006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Nestlé Iberia
Spain gig density
Riders Law manageable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23360"/>
            <a:ext cx="3566160" cy="1828800"/>
          </a:xfrm>
          <a:prstGeom prst="rect">
            <a:avLst/>
          </a:prstGeom>
          <a:solidFill>
            <a:srgbClr val="1E1535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133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</a:rPr>
              <a:t>🇫🇷 PARIS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Month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006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B5FD"/>
                </a:solidFill>
              </a:rPr>
              <a:t>L'Oréal + Danone
Highest CPG density
Requires full DPIA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D8EC2"/>
                </a:solidFill>
              </a:rPr>
              <a:t>BeMyEye (only EU competitor): $35M revenue · enterprise-only · no AI extraction · no consumer tier · 15 years building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